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9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6490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solidFill>
            <a:srgbClr val="252B40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5029200"/>
            <a:ext cx="2743200" cy="2743200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4" name="Shape 2"/>
          <p:cNvSpPr/>
          <p:nvPr/>
        </p:nvSpPr>
        <p:spPr>
          <a:xfrm>
            <a:off x="11825935" y="5943600"/>
            <a:ext cx="1280160" cy="12801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48640"/>
            <a:ext cx="457200" cy="457200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548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 360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58368" y="32461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360° Power BI Dashboard for Finance, Sales, Marketing,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" y="35661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&amp; Executive Decision-Making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85800" y="4160520"/>
            <a:ext cx="1005840" cy="36576"/>
          </a:xfrm>
          <a:prstGeom prst="rect">
            <a:avLst/>
          </a:prstGeom>
          <a:solidFill>
            <a:srgbClr val="E2593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Shakeer Shaik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solidFill>
            <a:srgbClr val="252B40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5029200"/>
            <a:ext cx="2743200" cy="2743200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4" name="Shape 2"/>
          <p:cNvSpPr/>
          <p:nvPr/>
        </p:nvSpPr>
        <p:spPr>
          <a:xfrm>
            <a:off x="11825935" y="5943600"/>
            <a:ext cx="1280160" cy="12801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70432" y="181051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39572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70432" y="237744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962656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294436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529584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0432" y="351129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096512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70432" y="407822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Transformation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09360" y="1828800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39712" y="181051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Metrics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09360" y="239572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39712" y="237744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309360" y="2962656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39712" y="294436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09360" y="3529584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39712" y="351129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ATLIQ HARDWARE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Overview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 is a rapidly growing electronics company specializing in hardware products, including PC accessories, printers, and more. Over the years, AtliQ has expanded significantly, establishing a strong global presence across APAC, North America, Latin America, and the European Union.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3502152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3337560"/>
            <a:ext cx="566928" cy="566928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42" y="3416930"/>
            <a:ext cx="408188" cy="4081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4672" y="402336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Platforms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04672" y="443484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Brick-and-Mortar (Croma, Best Buy)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(Amazon, Flipkart)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33672" y="3063240"/>
            <a:ext cx="3502152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89704" y="3337560"/>
            <a:ext cx="566928" cy="566928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9074" y="3416930"/>
            <a:ext cx="408188" cy="4081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89704" y="402336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Divisions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489704" y="443484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Storage (N &amp; 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Peripherals &amp; Accessories (P &amp; A)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918704" y="3063240"/>
            <a:ext cx="3502152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74736" y="3337560"/>
            <a:ext cx="566928" cy="566928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4106" y="3416930"/>
            <a:ext cx="408188" cy="4081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74736" y="402336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Channels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174736" y="443484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(third-party, on/offline)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Stores (AtliQ-branded)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Distributors (China, South Korea)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4864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AtliQ's customers are retailers and distributors, while consumers are the end users.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502920" cy="502920"/>
          </a:xfrm>
          <a:prstGeom prst="ellipse">
            <a:avLst/>
          </a:prstGeom>
          <a:solidFill>
            <a:srgbClr val="FDE7E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9" y="217352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0574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Hardware's reliance on scattered Excel sheets for analytics led to inefficient decision-making.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" y="3063240"/>
            <a:ext cx="502920" cy="502920"/>
          </a:xfrm>
          <a:prstGeom prst="ellipse">
            <a:avLst/>
          </a:prstGeom>
          <a:solidFill>
            <a:srgbClr val="FDE7E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9" y="313364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0175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resulted in significant losses, particularly during its Latin American expansion.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94360" y="4023360"/>
            <a:ext cx="502920" cy="502920"/>
          </a:xfrm>
          <a:prstGeom prst="ellipse">
            <a:avLst/>
          </a:prstGeom>
          <a:solidFill>
            <a:srgbClr val="FDE7E1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9" y="4093769"/>
            <a:ext cx="362102" cy="3621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9776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leveraging advanced data analytics gained an edge, leaving AtliQ struggling to keep up.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94360" y="4983480"/>
            <a:ext cx="502920" cy="502920"/>
          </a:xfrm>
          <a:prstGeom prst="ellipse">
            <a:avLst/>
          </a:prstGeom>
          <a:solidFill>
            <a:srgbClr val="FDE7E1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9" y="5053889"/>
            <a:ext cx="362102" cy="3621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9377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 transparency in data-driven decisions and stay competitive, AtliQ launched a data analytics project to enhance decision-making and strategic growth.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286000"/>
            <a:ext cx="594360" cy="59436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" y="2369210"/>
            <a:ext cx="427939" cy="42793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2084832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intuitive dashboard that delivers actionable insights for Finance, Sales, Marketing, and Supply Chain teams, along with an Executive view — enhancing transparency, improving data accessibility, and empowering stakeholders to make informed, data-driven decisions for strategic growth and efficiency.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520440"/>
            <a:ext cx="2029968" cy="23774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175004" y="3886200"/>
            <a:ext cx="777240" cy="77724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818" y="3995014"/>
            <a:ext cx="559613" cy="55961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49377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" y="53492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view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724912" y="3520440"/>
            <a:ext cx="2029968" cy="23774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351276" y="3886200"/>
            <a:ext cx="777240" cy="77724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0090" y="3995014"/>
            <a:ext cx="559613" cy="55961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724912" y="49377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2724912" y="53492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view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901184" y="3520440"/>
            <a:ext cx="2029968" cy="23774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527548" y="3886200"/>
            <a:ext cx="777240" cy="77724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6362" y="3995014"/>
            <a:ext cx="559613" cy="55961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01184" y="49377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901184" y="53492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view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7077456" y="3520440"/>
            <a:ext cx="2029968" cy="23774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703820" y="3886200"/>
            <a:ext cx="777240" cy="77724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2634" y="3995014"/>
            <a:ext cx="559613" cy="55961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77456" y="49377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7077456" y="53492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view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9253728" y="3520440"/>
            <a:ext cx="2029968" cy="23774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9880092" y="3886200"/>
            <a:ext cx="777240" cy="77724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8906" y="3995014"/>
            <a:ext cx="559613" cy="55961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253728" y="49377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9253728" y="53492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view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Overview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 provided two SQL databases and three Excel files for analysis, covering actual sales from September 1, 2017, to December 31, 2021 (fiscal year runs September–August).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347472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971800"/>
            <a:ext cx="548640" cy="54864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3048610"/>
            <a:ext cx="395021" cy="39502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Files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8680" y="40690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Expenses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(FY 2022 only)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(PC division only)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24528" y="2697480"/>
            <a:ext cx="356616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44568" y="2971800"/>
            <a:ext cx="548640" cy="54864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1378" y="3048610"/>
            <a:ext cx="395021" cy="39502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44568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gdb041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44568" y="40690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Fact: fact_forecast_monthly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Fact: fact_sales_monthly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 dim_customer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 dim_market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 dim_product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973568" y="2697480"/>
            <a:ext cx="3456432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93608" y="2971800"/>
            <a:ext cx="548640" cy="54864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0418" y="3048610"/>
            <a:ext cx="395021" cy="39502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93608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gdb056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293608" y="406908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freight_cost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gross_price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manufacturing_cost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post_invoice_deductions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pre_invoice_deductions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Transformation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2578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240280"/>
            <a:ext cx="548640" cy="54864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2317090"/>
            <a:ext cx="395021" cy="3950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28803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&amp; Trimmed Data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338328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leading and trailing spaces from text fields.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naming conventions for consistency.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35040" y="196596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55080" y="2240280"/>
            <a:ext cx="548640" cy="54864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890" y="2317090"/>
            <a:ext cx="395021" cy="39502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55080" y="2880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Structuring &amp; Optimization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355080" y="3383280"/>
            <a:ext cx="4846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dim_date table for better time-based analysis.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Appended fact_sales_monthly and fact_forecast_monthly into a single fact_actual_estimates table to simplify calculations.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calculated fields in fact_actual_estimates using data from relevant tables.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load for tables used to derive calculations, optimizing performance and reducing report size.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Metrics (1/2)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0881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/ Gross Sales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201168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generated from selling products before any deductions like discounts or costs.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Pre-Invoice Deduction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251460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applied before the invoice is generated, usually negotiated or promotional.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10881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17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Invoice Sales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301752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minus Pre-Invoice Deductions; the amount on the final invoice.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3520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Post-Invoice Deduction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0" y="352044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Deductions applied after invoicing, such as rebates, returns, or allowances.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10881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23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402336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Invoice Sales minus Post-Invoice Deductions; actual revenue realized.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4526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Cost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0" y="452628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to produce each product: raw materials, labor, and overhead.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10881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029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Cost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502920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transport products from factories to warehouses, stores, or customers.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5532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0" y="553212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Cost + Freight Cost + other direct costs.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6035040"/>
            <a:ext cx="10881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6035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0" y="603504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 minus COGS.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Metrics (2/2)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0881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201168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(Gross Margin / Net Sales) × 100.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Expense (OPEX)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251460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to run the business: salaries, rent, utilities, admin, logistics, support.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10881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17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301752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spent on promotion, advertising, campaigns, branding, and acquisition.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3520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0" y="352044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minus OPEX, Marketing Spend, and other expenses.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10881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23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Quantity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402336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units the company expects to sell in a period.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4526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Quantity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0" y="452628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number of units sold in the period.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10881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029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502920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 the forecast is to actual sales; higher % = better planning.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5532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Error / Absolute Error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0" y="553212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forecasted and actual sales (directional / absolute).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solidFill>
            <a:srgbClr val="252B40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5029200"/>
            <a:ext cx="2743200" cy="2743200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4" name="Shape 2"/>
          <p:cNvSpPr/>
          <p:nvPr/>
        </p:nvSpPr>
        <p:spPr>
          <a:xfrm>
            <a:off x="11825935" y="5943600"/>
            <a:ext cx="1280160" cy="12801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8803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33375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• Finance • Sales • Marketing • Supply Chain • Executive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774375" y="384048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1B1F2E"/>
          </a:solidFill>
          <a:ln/>
        </p:spPr>
      </p:sp>
      <p:sp>
        <p:nvSpPr>
          <p:cNvPr id="6" name="Text 4"/>
          <p:cNvSpPr/>
          <p:nvPr/>
        </p:nvSpPr>
        <p:spPr>
          <a:xfrm>
            <a:off x="10774375" y="3840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103052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960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Page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93776" y="1636776"/>
            <a:ext cx="7516368" cy="4249797"/>
          </a:xfrm>
          <a:prstGeom prst="roundRect">
            <a:avLst>
              <a:gd name="adj" fmla="val 1076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pic>
        <p:nvPicPr>
          <p:cNvPr id="11" name="Image 1" descr="/home/claude/build/images/Home_P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91640"/>
            <a:ext cx="7406640" cy="419493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192845" y="1691640"/>
            <a:ext cx="3520440" cy="4194933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439912" y="18745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439912" y="2286000"/>
            <a:ext cx="300837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landing page linking to five focused views: Finance, Sales, Marketing, Supply Chain, and Executive.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full P&amp;L statement for any customer, product, or country, over any time period.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customer performance across Net Sales, Gross Margin, and Net Profit.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Marketing: product performance in a profitability / growth matrix.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Chain: Forecast Accuracy, Net Error, and risk profile by product, segment, category, customer.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Executive: a top-level consolidated view across all business dimensions.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774375" y="384048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1B1F2E"/>
          </a:solidFill>
          <a:ln/>
        </p:spPr>
      </p:sp>
      <p:sp>
        <p:nvSpPr>
          <p:cNvPr id="6" name="Text 4"/>
          <p:cNvSpPr/>
          <p:nvPr/>
        </p:nvSpPr>
        <p:spPr>
          <a:xfrm>
            <a:off x="10774375" y="3840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103052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960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View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93776" y="1636776"/>
            <a:ext cx="7516368" cy="4394011"/>
          </a:xfrm>
          <a:prstGeom prst="roundRect">
            <a:avLst>
              <a:gd name="adj" fmla="val 1041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pic>
        <p:nvPicPr>
          <p:cNvPr id="11" name="Image 1" descr="/home/claude/build/images/Finance_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91640"/>
            <a:ext cx="7406640" cy="428428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214055" y="1636776"/>
            <a:ext cx="3520440" cy="4339147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439912" y="18745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439912" y="2286000"/>
            <a:ext cx="300837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FY2022 (Est.) Net Sales of ₹3,736.17M, up 353.5% vs benchmark, with 38.08% Gross Margin.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Profit &amp; Loss statement: Gross Sales down to Net Profit, each line with benchmark and YoY% comparison.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% stands at -13.98%, reflecting continued high operational and marketing expense.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leads regional Net Sales (₹1,923.77M); Notebook leads segment Net Sales (₹1,580.43M) with the highest YoY growth (493%).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 performance tracked monthly from Sep-21 to Aug-22 against the P&amp;L benchmark.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774375" y="384048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1B1F2E"/>
          </a:solidFill>
          <a:ln/>
        </p:spPr>
      </p:sp>
      <p:sp>
        <p:nvSpPr>
          <p:cNvPr id="6" name="Text 4"/>
          <p:cNvSpPr/>
          <p:nvPr/>
        </p:nvSpPr>
        <p:spPr>
          <a:xfrm>
            <a:off x="10774375" y="3840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103052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960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View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93776" y="1636776"/>
            <a:ext cx="7516368" cy="435667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pic>
        <p:nvPicPr>
          <p:cNvPr id="11" name="Image 1" descr="/home/claude/build/images/Sales_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91640"/>
            <a:ext cx="7406640" cy="42469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214055" y="1673352"/>
            <a:ext cx="3520440" cy="4301814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439912" y="18745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439912" y="2286000"/>
            <a:ext cx="300837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Performance table ranks Amazon, AtliQ Exclusive, and Atliq e Store as top contributors to Net Sales.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 by segment shows Gross Margin % holding steady near 38% across all segments.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Matrix plots Net Sales vs Gross Margin % by market — India and South Korea lead in Net Sales.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donuts break down Net Sales into deductions and COGS into Gross Margin.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drill-down by region, market, customer, segment, and category via top filters.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774375" y="384048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1B1F2E"/>
          </a:solidFill>
          <a:ln/>
        </p:spPr>
      </p:sp>
      <p:sp>
        <p:nvSpPr>
          <p:cNvPr id="6" name="Text 4"/>
          <p:cNvSpPr/>
          <p:nvPr/>
        </p:nvSpPr>
        <p:spPr>
          <a:xfrm>
            <a:off x="10774375" y="3840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103052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960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View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93776" y="1636776"/>
            <a:ext cx="7516368" cy="435885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pic>
        <p:nvPicPr>
          <p:cNvPr id="11" name="Image 1" descr="/home/claude/build/images/Marketing_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91640"/>
            <a:ext cx="7406640" cy="424912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177784" y="1636776"/>
            <a:ext cx="3520440" cy="4358854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439912" y="18745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439912" y="2286000"/>
            <a:ext cx="300837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 Matrix maps Net Sales against Net Profit % by division — Notebook has the highest Net Sales but is deep in negative Net Profit %.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Accessories post smaller revenue but stay closer to breakeven Net Profit %.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/ Market / Customer Performance table breaks out Gross Margin % by region, led by NA at 44.97%.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donut: COGS represents 61.92% of total, leaving 38.08% Gross Margin.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 'Show GM%' toggle for switching the matrix view between Net Profit % and Gross Margin %.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774375" y="384048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1B1F2E"/>
          </a:solidFill>
          <a:ln/>
        </p:spPr>
      </p:sp>
      <p:sp>
        <p:nvSpPr>
          <p:cNvPr id="6" name="Text 4"/>
          <p:cNvSpPr/>
          <p:nvPr/>
        </p:nvSpPr>
        <p:spPr>
          <a:xfrm>
            <a:off x="10774375" y="3840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103052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960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View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93776" y="1636776"/>
            <a:ext cx="7516368" cy="4411513"/>
          </a:xfrm>
          <a:prstGeom prst="roundRect">
            <a:avLst>
              <a:gd name="adj" fmla="val 1036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pic>
        <p:nvPicPr>
          <p:cNvPr id="11" name="Image 1" descr="/home/claude/build/images/Supply_Chain_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91640"/>
            <a:ext cx="7406640" cy="430178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177784" y="1636776"/>
            <a:ext cx="3520440" cy="4411513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439912" y="18745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439912" y="2286000"/>
            <a:ext cx="300837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FY2022 (Est.) Forecast Accuracy of 81.17%, up 1.2 points vs last year; Net Error of -3,472.69K units.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Net Error trend charted monthly from Sep-21 to Aug-22 against last year's accuracy line.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by customer flag risk profile — most customers show Out-of-Stock (OOS) risk, a few show Excess Inventory (EI).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segment: Networking (93.06%) and Accessories (87.42%) forecast most accurately; Peripherals (68.17%) and Storage (71.50%) lag.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Segment-level Net Error % highlights Peripherals as the largest under-forecast at -31.83%.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774375" y="384048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1B1F2E"/>
          </a:solidFill>
          <a:ln/>
        </p:spPr>
      </p:sp>
      <p:sp>
        <p:nvSpPr>
          <p:cNvPr id="6" name="Text 4"/>
          <p:cNvSpPr/>
          <p:nvPr/>
        </p:nvSpPr>
        <p:spPr>
          <a:xfrm>
            <a:off x="10774375" y="3840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103052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960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View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93776" y="1636776"/>
            <a:ext cx="7516368" cy="4371992"/>
          </a:xfrm>
          <a:prstGeom prst="roundRect">
            <a:avLst>
              <a:gd name="adj" fmla="val 1046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pic>
        <p:nvPicPr>
          <p:cNvPr id="11" name="Image 1" descr="/home/claude/build/images/Executive_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91640"/>
            <a:ext cx="7406640" cy="426226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183880" y="1647354"/>
            <a:ext cx="3520440" cy="4361414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E">
                <a:alpha val="1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439912" y="18745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5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439912" y="2286000"/>
            <a:ext cx="300837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FY2022 (Est.) scorecard: Net Sales ₹3,736.17M, GM% 38.08%, Net Profit% -13.98%, FA% 81.17%.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Division: PC leads at 61.33%; by Channel: Retailer leads at 71.53%.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Market Share trend (2018–2022) shows AtliQ growing from ~7.8% to 22.3%, while Dale remains the largest player.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by Sub Zone table ranks India, ROA, and NA as top revenue contributors, most flagged Out-of-Stock (OOS) risk.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Net Sales trend shows sharp FY2022 growth, alongside a widening gap between GM% and Net Profit%.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solidFill>
            <a:srgbClr val="252B40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5029200"/>
            <a:ext cx="2743200" cy="2743200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4" name="Shape 2"/>
          <p:cNvSpPr/>
          <p:nvPr/>
        </p:nvSpPr>
        <p:spPr>
          <a:xfrm>
            <a:off x="11825935" y="5943600"/>
            <a:ext cx="1280160" cy="12801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8803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33375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91495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1B1F2E"/>
          </a:solidFill>
          <a:ln/>
        </p:spPr>
      </p:sp>
      <p:sp>
        <p:nvSpPr>
          <p:cNvPr id="6" name="Text 4"/>
          <p:cNvSpPr/>
          <p:nvPr/>
        </p:nvSpPr>
        <p:spPr>
          <a:xfrm>
            <a:off x="10591495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103052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9601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Growth &amp; Financial Performance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85216" y="1949326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1761874"/>
            <a:ext cx="10607040" cy="50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expansion: Net Sales grew ~280% (FY2019), ~140% (FY2020), ~200% (FY2021), and ~350% (FY2022).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85216" y="2623065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2435612"/>
            <a:ext cx="10607040" cy="502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% has remained negative since FY2020 due to high operational and marketing expenses — typical for a company in its growth phase.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91495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1B1F2E"/>
          </a:solidFill>
          <a:ln/>
        </p:spPr>
      </p:sp>
      <p:sp>
        <p:nvSpPr>
          <p:cNvPr id="6" name="Text 4"/>
          <p:cNvSpPr/>
          <p:nvPr/>
        </p:nvSpPr>
        <p:spPr>
          <a:xfrm>
            <a:off x="10591495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103052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9601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Market Trends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10569" y="1767532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1580080"/>
            <a:ext cx="10607040" cy="50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remained the largest market (FY2019–FY2022), led by India, while Latin America was the smallest.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8198" y="2282991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083001"/>
            <a:ext cx="10607040" cy="502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was the top global customer every year; Nova (Austria) has been the smallest since FY2020.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88748" y="2843515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2656062"/>
            <a:ext cx="10607040" cy="502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had the highest revenue growth every fiscal year, but the most negative Net Profit % in FY2022, likely from higher marketing spend.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85216" y="3385022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3183542"/>
            <a:ext cx="10607040" cy="502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had the lowest growth in FY2019 &amp; FY2020; Networking became the weakest segment in FY2022.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82293" y="3926432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9" name="Text 16"/>
          <p:cNvSpPr/>
          <p:nvPr/>
        </p:nvSpPr>
        <p:spPr>
          <a:xfrm>
            <a:off x="841248" y="3738979"/>
            <a:ext cx="10607040" cy="502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flash drives underperformed in FY2021 &amp; FY2022, signaling product or market challenges.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91495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1B1F2E"/>
          </a:solidFill>
          <a:ln/>
        </p:spPr>
      </p:sp>
      <p:sp>
        <p:nvSpPr>
          <p:cNvPr id="6" name="Text 4"/>
          <p:cNvSpPr/>
          <p:nvPr/>
        </p:nvSpPr>
        <p:spPr>
          <a:xfrm>
            <a:off x="10591495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103052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9601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Customer Insights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85216" y="1860804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1" name="Text 8"/>
          <p:cNvSpPr/>
          <p:nvPr/>
        </p:nvSpPr>
        <p:spPr>
          <a:xfrm>
            <a:off x="792480" y="1673352"/>
            <a:ext cx="10607040" cy="50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post-discounting model applied uniformly across products and customers is significantly eroding Gross Margin %.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85216" y="2496579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3" name="Text 10"/>
          <p:cNvSpPr/>
          <p:nvPr/>
        </p:nvSpPr>
        <p:spPr>
          <a:xfrm>
            <a:off x="792480" y="2309127"/>
            <a:ext cx="10607040" cy="50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performance-based discounting strategy, tailored per product and customer within each market, is recommended to optimize profitability.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85216" y="3129400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5" name="Text 12"/>
          <p:cNvSpPr/>
          <p:nvPr/>
        </p:nvSpPr>
        <p:spPr>
          <a:xfrm>
            <a:off x="761695" y="3005955"/>
            <a:ext cx="10607040" cy="502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products — AQ 5000 Series Electron 9 5900X, AQ MB Elite, AQ Wi Power Dx1 — had zero sales in FY2022, likely due to demand shifts or outdated models.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91495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1B1F2E"/>
          </a:solidFill>
          <a:ln/>
        </p:spPr>
      </p:sp>
      <p:sp>
        <p:nvSpPr>
          <p:cNvPr id="6" name="Text 4"/>
          <p:cNvSpPr/>
          <p:nvPr/>
        </p:nvSpPr>
        <p:spPr>
          <a:xfrm>
            <a:off x="10591495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103052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9601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Accuracy &amp; Supply Chain Efficiency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91312" y="1874256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1784422"/>
            <a:ext cx="10607040" cy="50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(FCA%) dropped from ~86% (FY2019) to ~73% (FY2020) due to COVID-19 disruptions, then improved to ~80% (FY2021) and ~81% (FY2022).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85216" y="2768128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580675"/>
            <a:ext cx="10607040" cy="502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inventory was the major issue in FY2019–FY2020, while stock shortages became the challenge in FY2021–FY2022.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559" y="3444954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257501"/>
            <a:ext cx="10607040" cy="502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Work-from-home demand surged in FY2020, causing stockouts for processors, keyboards, and WiFi extenders.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91495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1B1F2E"/>
          </a:solidFill>
          <a:ln/>
        </p:spPr>
      </p:sp>
      <p:sp>
        <p:nvSpPr>
          <p:cNvPr id="6" name="Text 4"/>
          <p:cNvSpPr/>
          <p:nvPr/>
        </p:nvSpPr>
        <p:spPr>
          <a:xfrm>
            <a:off x="10591495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103052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9601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Position &amp; Market Share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85216" y="2043325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1834892"/>
            <a:ext cx="10607040" cy="50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AtliQ's PC market share grew from ~1% (FY2021) to ~6% (FY2022), though Dale remains the dominant player.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85700" y="2615945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2428492"/>
            <a:ext cx="10607040" cy="502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was the fastest-growing market, reaching ~13% share in FY2022.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85700" y="3118867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2931414"/>
            <a:ext cx="10607040" cy="502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subzones, North America had the highest revenue in FY2022, but AtliQ's market penetration remained only ~5%.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02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91495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1B1F2E"/>
          </a:solidFill>
          <a:ln/>
        </p:spPr>
      </p:sp>
      <p:sp>
        <p:nvSpPr>
          <p:cNvPr id="6" name="Text 4"/>
          <p:cNvSpPr/>
          <p:nvPr/>
        </p:nvSpPr>
        <p:spPr>
          <a:xfrm>
            <a:off x="10591495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502920" cy="502920"/>
          </a:xfrm>
          <a:prstGeom prst="ellipse">
            <a:avLst/>
          </a:prstGeom>
          <a:solidFill>
            <a:srgbClr val="DCEAF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103052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9601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&amp; Strategic Insights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85216" y="1938044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1739154"/>
            <a:ext cx="10607040" cy="50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peaked from September to December across all years, likely driven by festive and year-end promotions.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88264" y="2541064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363689"/>
            <a:ext cx="10607040" cy="50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contributed ~72% of revenue in FY2022.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85216" y="3118954"/>
            <a:ext cx="128016" cy="128016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5" name="Text 12"/>
          <p:cNvSpPr/>
          <p:nvPr/>
        </p:nvSpPr>
        <p:spPr>
          <a:xfrm>
            <a:off x="800100" y="2931501"/>
            <a:ext cx="10607040" cy="502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UK had the highest marketing costs, making it a key area for strategy review, followed by Germany (low revenue, high marketing spend).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solidFill>
            <a:srgbClr val="252B40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5029200"/>
            <a:ext cx="2743200" cy="2743200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4" name="Shape 2"/>
          <p:cNvSpPr/>
          <p:nvPr/>
        </p:nvSpPr>
        <p:spPr>
          <a:xfrm>
            <a:off x="11825935" y="5943600"/>
            <a:ext cx="1280160" cy="12801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(1/2)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252B40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984248"/>
            <a:ext cx="438912" cy="438912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984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1828800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Gradually reduce operational and marketing expenses after capturing significant market share to improve Net Profit %.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252B40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2898648"/>
            <a:ext cx="438912" cy="438912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898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2743200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flat post-discounting to a performance-based model per product and customer in each market.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252B40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3813048"/>
            <a:ext cx="438912" cy="438912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813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657600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distribution and targeted marketing in high-growth regions like APAC, especially India.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252B40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727448"/>
            <a:ext cx="438912" cy="438912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727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08760" y="4572000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Reevaluate the pricing or cost structure of the Notebook segment to enhance Net Profit %.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548640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252B40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5641848"/>
            <a:ext cx="438912" cy="438912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641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08760" y="5486400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USB flash drive underperformance — consider repositioning, discontinuing, or improved models.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solidFill>
            <a:srgbClr val="252B40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5029200"/>
            <a:ext cx="2743200" cy="2743200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4" name="Shape 2"/>
          <p:cNvSpPr/>
          <p:nvPr/>
        </p:nvSpPr>
        <p:spPr>
          <a:xfrm>
            <a:off x="11825935" y="5943600"/>
            <a:ext cx="1280160" cy="12801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(2/2)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252B40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984248"/>
            <a:ext cx="438912" cy="438912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984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1828800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forecasting, especially for customers, using real-time data to minimize stock imbalances.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252B40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2898648"/>
            <a:ext cx="438912" cy="438912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898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2743200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targeted strategies to increase market share in North America.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252B40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3813048"/>
            <a:ext cx="438912" cy="438912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813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657600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competitiveness in the PC segment through differentiation to challenge dominant players like Dale.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252B40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727448"/>
            <a:ext cx="438912" cy="438912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727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08760" y="4572000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marketing spend in the UK and Germany to improve return on investment.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548640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252B40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5641848"/>
            <a:ext cx="438912" cy="438912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641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08760" y="5486400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inventory planning and promotions with the September–December sales surge.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solidFill>
            <a:srgbClr val="252B40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5029200"/>
            <a:ext cx="2743200" cy="2743200"/>
          </a:xfrm>
          <a:prstGeom prst="ellipse">
            <a:avLst/>
          </a:prstGeom>
          <a:solidFill>
            <a:srgbClr val="E2593D"/>
          </a:solidFill>
          <a:ln/>
        </p:spPr>
      </p:sp>
      <p:sp>
        <p:nvSpPr>
          <p:cNvPr id="4" name="Shape 2"/>
          <p:cNvSpPr/>
          <p:nvPr/>
        </p:nvSpPr>
        <p:spPr>
          <a:xfrm>
            <a:off x="11825935" y="5943600"/>
            <a:ext cx="1280160" cy="12801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5" name="Shape 3"/>
          <p:cNvSpPr/>
          <p:nvPr/>
        </p:nvSpPr>
        <p:spPr>
          <a:xfrm>
            <a:off x="5684368" y="1463040"/>
            <a:ext cx="822960" cy="822960"/>
          </a:xfrm>
          <a:prstGeom prst="ellipse">
            <a:avLst/>
          </a:prstGeom>
          <a:solidFill>
            <a:srgbClr val="252B4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582" y="1578254"/>
            <a:ext cx="592531" cy="5925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25146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1188720" y="333756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360 turns scattered spreadsheets into a single source of truth —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faster, more confident decisions across AtliQ Hardware.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43891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2212</Words>
  <Application>Microsoft Office PowerPoint</Application>
  <PresentationFormat>Widescreen</PresentationFormat>
  <Paragraphs>323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Insights 360</dc:title>
  <dc:subject>PptxGenJS Presentation</dc:subject>
  <dc:creator>AtliQ Hardware Analytics</dc:creator>
  <cp:lastModifiedBy>Shakeer Shaik</cp:lastModifiedBy>
  <cp:revision>6</cp:revision>
  <dcterms:created xsi:type="dcterms:W3CDTF">2026-07-02T11:54:45Z</dcterms:created>
  <dcterms:modified xsi:type="dcterms:W3CDTF">2026-07-02T12:15:25Z</dcterms:modified>
</cp:coreProperties>
</file>